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2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2F75-FBBB-E941-5970-09BA37BF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98AFC-C320-350A-E2AB-80317F5ED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B3678-3299-C39A-A988-ECC56CA1B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2BC91-D908-322A-5AA3-3912F0863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32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9F2D-3C5C-BB7F-E3CE-3DE324E0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88700-E86D-F8D5-1895-F400A0ECB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ADC81-B404-A929-AC9C-593926F1F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F8717-09D4-F02B-53AF-F786AD968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89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8A0F3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8A0F3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REESTRUCTURACIÓN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cicm.sesna.gob.mx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actualización del Catálogo de Información sobre la Corrupción en México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9DAF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Ejecutiva del Sistema Nacional Anticorrupción (SESNA)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B3D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navegación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intuitiva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este objetivo, se propone actualizar la estructura de pestañas del portal, así como su jerarquía visual y paleta de colores.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502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actual  →  Estructura propuesta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246120" cy="5257800"/>
          </a:xfrm>
          <a:prstGeom prst="roundRect">
            <a:avLst>
              <a:gd name="adj" fmla="val 2254"/>
            </a:avLst>
          </a:prstGeom>
          <a:solidFill>
            <a:srgbClr val="F5F5F5"/>
          </a:solidFill>
          <a:ln w="9525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8183880" y="1051560"/>
            <a:ext cx="3246120" cy="5257800"/>
          </a:xfrm>
          <a:prstGeom prst="roundRect">
            <a:avLst>
              <a:gd name="adj" fmla="val 2254"/>
            </a:avLst>
          </a:prstGeom>
          <a:solidFill>
            <a:srgbClr val="FBECEF"/>
          </a:solidFill>
          <a:ln w="9525">
            <a:solidFill>
              <a:srgbClr val="9E1238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83880" y="1188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2788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CICM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Acerca de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Búsqueda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3.1 Búsqueda avanzada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3.2 Visualizador ciudadano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Blog (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Preguntas frecuentes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Contáctanos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58200" y="1691640"/>
            <a:ext cx="2788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CICM y Acerca del CICM (fusion)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Consulta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2.1 Geográfica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2.2 Interactiva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Preguntas frecuentes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Contacto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 y jerarquía visual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tipografía en todo el sitio, controlando la jerarquía únicamente por tamaño y peso.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20299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 principal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0" y="192024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máximo. Encabezados de sección de cada pestaña.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Subtítulo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33832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intermedio, en negrita, para introducir bloques de contenido.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0" y="4956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de cuerpo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48463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estándar, peso regular, para el contenido general.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consistencia: excepto la pantalla de inicio (“CICM”), todas las pestañas internas mantienen estrictamente el mismo formato de título y estilo.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Paleta de colores propuesta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 una paleta cromática consistente para toda la interfaz.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2130552"/>
            <a:ext cx="1755648" cy="2011680"/>
          </a:xfrm>
          <a:prstGeom prst="roundRect">
            <a:avLst>
              <a:gd name="adj" fmla="val 3125"/>
            </a:avLst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Vino Principal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4709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#9E1238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marca / acentos principales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962656" y="2130552"/>
            <a:ext cx="1755648" cy="2011680"/>
          </a:xfrm>
          <a:prstGeom prst="roundRect">
            <a:avLst>
              <a:gd name="adj" fmla="val 3125"/>
            </a:avLst>
          </a:prstGeom>
          <a:solidFill>
            <a:srgbClr val="3B3D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935224" y="4297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Gris Grafito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35224" y="4709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#3B3D3F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35224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fondos oscuros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47488" y="196596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212080" y="2130552"/>
            <a:ext cx="1755648" cy="2011680"/>
          </a:xfrm>
          <a:prstGeom prst="roundRect">
            <a:avLst>
              <a:gd name="adj" fmla="val 3125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184648" y="4297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Azul Acero Claro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84648" y="4709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#9DAFCE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84648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y contrastes suaves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96912" y="196596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61504" y="2130552"/>
            <a:ext cx="1755648" cy="2011680"/>
          </a:xfrm>
          <a:prstGeom prst="roundRect">
            <a:avLst>
              <a:gd name="adj" fmla="val 3125"/>
            </a:avLst>
          </a:prstGeom>
          <a:solidFill>
            <a:srgbClr val="DE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434072" y="4297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 Alerta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34072" y="4709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#DE2626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34072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llamadas de atención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46336" y="196596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9710928" y="2130552"/>
            <a:ext cx="1755648" cy="2011680"/>
          </a:xfrm>
          <a:prstGeom prst="roundRect">
            <a:avLst>
              <a:gd name="adj" fmla="val 3125"/>
            </a:avLst>
          </a:prstGeom>
          <a:solidFill>
            <a:srgbClr val="8D8E9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683496" y="4297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Gris Medio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83496" y="4709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#8D8E94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83496" y="50292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secundarios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avance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sitio en curso, sección por sección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4A4C50"/>
          </a:solidFill>
          <a:ln w="12700">
            <a:solidFill>
              <a:srgbClr val="9DAF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la página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cuenta con la estructura base del sitio: encabezado, navegación, menús y pestañas funcionando.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4A4C50"/>
          </a:solidFill>
          <a:ln w="12700">
            <a:solidFill>
              <a:srgbClr val="9DAF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por sección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desarrollando cada sección de forma independiente (HTML, CSS y JS separados por pestaña: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contacto, etc.).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2E3033"/>
          </a:solidFill>
          <a:ln w="1270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8D8E9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3210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 visual con CSS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 de desarrollar y afinar el estilo visual definitivo: paleta de colores, tipografía y jerarquía.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D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4FFEC-8E19-AAE6-649D-FB4BE753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7E13E4-48DE-4BB6-043D-F535AAF2E9AE}"/>
              </a:ext>
            </a:extLst>
          </p:cNvPr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avance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D258DD-6249-1C69-87B7-ADF43EB0224D}"/>
              </a:ext>
            </a:extLst>
          </p:cNvPr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sitio en curso, sección por sección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A6B2A1-7C97-4ECE-1038-6CDB47EEAC6C}"/>
              </a:ext>
            </a:extLst>
          </p:cNvPr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6C4FD4-947C-DF91-FB0F-F469ACD5470C}"/>
              </a:ext>
            </a:extLst>
          </p:cNvPr>
          <p:cNvSpPr/>
          <p:nvPr/>
        </p:nvSpPr>
        <p:spPr>
          <a:xfrm>
            <a:off x="82296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C618C2-0581-9649-B687-28D4EF1E0831}"/>
              </a:ext>
            </a:extLst>
          </p:cNvPr>
          <p:cNvSpPr/>
          <p:nvPr/>
        </p:nvSpPr>
        <p:spPr>
          <a:xfrm>
            <a:off x="82296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F5B0F81-C1F5-C2B2-5AFD-BEE4E65FC22D}"/>
              </a:ext>
            </a:extLst>
          </p:cNvPr>
          <p:cNvSpPr/>
          <p:nvPr/>
        </p:nvSpPr>
        <p:spPr>
          <a:xfrm>
            <a:off x="843814" y="1819656"/>
            <a:ext cx="3495174" cy="3849624"/>
          </a:xfrm>
          <a:prstGeom prst="roundRect">
            <a:avLst>
              <a:gd name="adj" fmla="val 2278"/>
            </a:avLst>
          </a:prstGeom>
          <a:solidFill>
            <a:srgbClr val="4A4C50"/>
          </a:solidFill>
          <a:ln w="12700">
            <a:solidFill>
              <a:srgbClr val="9DAF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0C54C34-4FBA-5447-953B-15A94F50A77F}"/>
              </a:ext>
            </a:extLst>
          </p:cNvPr>
          <p:cNvSpPr/>
          <p:nvPr/>
        </p:nvSpPr>
        <p:spPr>
          <a:xfrm>
            <a:off x="1051560" y="2027000"/>
            <a:ext cx="502920" cy="50292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A7832A6-0A78-F4CD-B744-55A69BBD4AC9}"/>
              </a:ext>
            </a:extLst>
          </p:cNvPr>
          <p:cNvSpPr/>
          <p:nvPr/>
        </p:nvSpPr>
        <p:spPr>
          <a:xfrm>
            <a:off x="1058779" y="198007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9DBCC9-D579-DA0D-F602-F9160E952378}"/>
              </a:ext>
            </a:extLst>
          </p:cNvPr>
          <p:cNvSpPr/>
          <p:nvPr/>
        </p:nvSpPr>
        <p:spPr>
          <a:xfrm>
            <a:off x="1561699" y="191109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por sección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6E7C1C3-0F62-1F7E-1689-F645141CDF08}"/>
              </a:ext>
            </a:extLst>
          </p:cNvPr>
          <p:cNvSpPr/>
          <p:nvPr/>
        </p:nvSpPr>
        <p:spPr>
          <a:xfrm>
            <a:off x="1051560" y="20802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desarrollando cada sección de forma independiente (HTML, CSS y JS separados por pestaña: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contacto, etc.).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AC7C103-6F3C-E36E-828F-5FD94915B94C}"/>
              </a:ext>
            </a:extLst>
          </p:cNvPr>
          <p:cNvSpPr/>
          <p:nvPr/>
        </p:nvSpPr>
        <p:spPr>
          <a:xfrm>
            <a:off x="1097280" y="5257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F5F811-B564-8F08-64AE-423110339348}"/>
              </a:ext>
            </a:extLst>
          </p:cNvPr>
          <p:cNvSpPr/>
          <p:nvPr/>
        </p:nvSpPr>
        <p:spPr>
          <a:xfrm>
            <a:off x="832104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859E1CF-63A4-7744-CEA9-2E7119C9DF8E}"/>
              </a:ext>
            </a:extLst>
          </p:cNvPr>
          <p:cNvSpPr/>
          <p:nvPr/>
        </p:nvSpPr>
        <p:spPr>
          <a:xfrm>
            <a:off x="832104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F13C05B-7271-55AA-D07B-F46032F8AAD7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9DF3784-9AA9-11CC-7CDA-57074174242D}"/>
              </a:ext>
            </a:extLst>
          </p:cNvPr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A23DDEC-A3E4-DA84-2D00-53259EA29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845" y="502920"/>
            <a:ext cx="6861745" cy="580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6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D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777A1-7023-8A91-8DAC-75C2B10F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F2FBD8-1A84-68BC-B4ED-07EC9A73A616}"/>
              </a:ext>
            </a:extLst>
          </p:cNvPr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EAE273-F2AC-B934-E905-3844D0593943}"/>
              </a:ext>
            </a:extLst>
          </p:cNvPr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sitio en curso, sección por sección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C5DA44-27C6-6B49-A429-76939299815A}"/>
              </a:ext>
            </a:extLst>
          </p:cNvPr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4F5E74-9D6E-A3D8-74C6-E26DA7E43050}"/>
              </a:ext>
            </a:extLst>
          </p:cNvPr>
          <p:cNvSpPr/>
          <p:nvPr/>
        </p:nvSpPr>
        <p:spPr>
          <a:xfrm>
            <a:off x="82296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6959BE-AFFD-3787-E4D0-8B6BF3FFA7A1}"/>
              </a:ext>
            </a:extLst>
          </p:cNvPr>
          <p:cNvSpPr/>
          <p:nvPr/>
        </p:nvSpPr>
        <p:spPr>
          <a:xfrm>
            <a:off x="82296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4EA88F1-D5BD-7606-D840-D9CE22521267}"/>
              </a:ext>
            </a:extLst>
          </p:cNvPr>
          <p:cNvSpPr/>
          <p:nvPr/>
        </p:nvSpPr>
        <p:spPr>
          <a:xfrm>
            <a:off x="773631" y="17373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4A4C50"/>
          </a:solidFill>
          <a:ln w="12700">
            <a:solidFill>
              <a:srgbClr val="9DAF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8DE67D9-34BF-1C0A-D099-855F1F6D1A9C}"/>
              </a:ext>
            </a:extLst>
          </p:cNvPr>
          <p:cNvSpPr/>
          <p:nvPr/>
        </p:nvSpPr>
        <p:spPr>
          <a:xfrm>
            <a:off x="1051560" y="2027000"/>
            <a:ext cx="502920" cy="50292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2EC938B-A68B-C488-F1D2-CA0F5F4B6D46}"/>
              </a:ext>
            </a:extLst>
          </p:cNvPr>
          <p:cNvSpPr/>
          <p:nvPr/>
        </p:nvSpPr>
        <p:spPr>
          <a:xfrm>
            <a:off x="1058779" y="198007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6E3F06-8FA6-2268-1558-CDD4361495A8}"/>
              </a:ext>
            </a:extLst>
          </p:cNvPr>
          <p:cNvSpPr/>
          <p:nvPr/>
        </p:nvSpPr>
        <p:spPr>
          <a:xfrm>
            <a:off x="1561699" y="191109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por sección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0B3B036-1C81-DF46-F6F5-CDC551B2C1E4}"/>
              </a:ext>
            </a:extLst>
          </p:cNvPr>
          <p:cNvSpPr/>
          <p:nvPr/>
        </p:nvSpPr>
        <p:spPr>
          <a:xfrm>
            <a:off x="1051560" y="20802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desarrollando cada sección de forma independiente (HTML, CSS y JS separados por pestaña: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contacto, etc.).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BF7A873-53BE-1890-99F6-3631256A2741}"/>
              </a:ext>
            </a:extLst>
          </p:cNvPr>
          <p:cNvSpPr/>
          <p:nvPr/>
        </p:nvSpPr>
        <p:spPr>
          <a:xfrm>
            <a:off x="1097280" y="5257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DA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A75F678-D7D0-90F7-225B-15B888C3731C}"/>
              </a:ext>
            </a:extLst>
          </p:cNvPr>
          <p:cNvSpPr/>
          <p:nvPr/>
        </p:nvSpPr>
        <p:spPr>
          <a:xfrm>
            <a:off x="8321040" y="35204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C5C066-9E6F-1364-68B1-A4E78CDB9DBF}"/>
              </a:ext>
            </a:extLst>
          </p:cNvPr>
          <p:cNvSpPr/>
          <p:nvPr/>
        </p:nvSpPr>
        <p:spPr>
          <a:xfrm>
            <a:off x="8321040" y="5532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E678A33-56AB-6CE4-4147-E7CC2DEEDF00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195A69-884F-A59D-E349-0172823E9BA8}"/>
              </a:ext>
            </a:extLst>
          </p:cNvPr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87B7F6-4D20-21E1-1719-5D421FDD1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51" y="1097280"/>
            <a:ext cx="9861082" cy="5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7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7">
            <a:extLst>
              <a:ext uri="{FF2B5EF4-FFF2-40B4-BE49-F238E27FC236}">
                <a16:creationId xmlns:a16="http://schemas.microsoft.com/office/drawing/2014/main" id="{B25BD1AF-69E6-A448-77BA-D7FFA2538FDF}"/>
              </a:ext>
            </a:extLst>
          </p:cNvPr>
          <p:cNvSpPr/>
          <p:nvPr/>
        </p:nvSpPr>
        <p:spPr>
          <a:xfrm>
            <a:off x="4251960" y="1981200"/>
            <a:ext cx="7514924" cy="1575816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desarrollo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sección del sitio se construye en archivos independientes (HTML, CSS y JS), lo que permite avanzar y ajustar cada pestaña sin afectar a las demás.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31520" y="22585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inicio.html / .css / .js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2057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0" name="Shape 8"/>
          <p:cNvSpPr/>
          <p:nvPr/>
        </p:nvSpPr>
        <p:spPr>
          <a:xfrm>
            <a:off x="4480560" y="22585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48056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 err="1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</a:t>
            </a: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consulta.html / .</a:t>
            </a:r>
            <a:r>
              <a:rPr lang="en-US" sz="1150" b="1" dirty="0" err="1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.</a:t>
            </a:r>
            <a:r>
              <a:rPr lang="en-US" sz="1150" b="1" dirty="0" err="1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27706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229600" y="22585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22960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22037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/ consulta.html / .css / .js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27706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geográfica e interactiva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6576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480560" y="3858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48056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preguntas-frecuentes.html / .css / .js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8056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6576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6350">
            <a:solidFill>
              <a:srgbClr val="8D8E9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229600" y="3858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22960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252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contacto.html / .css / .js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437083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2560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CICM (“Home”)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el formato del título y la presentación de algunas variables. La idea principal de esta actualización es mejorar y facilitar la búsqueda de variables.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502920"/>
          </a:xfrm>
          <a:prstGeom prst="rect">
            <a:avLst/>
          </a:prstGeom>
          <a:solidFill>
            <a:srgbClr val="DE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instructivo de búsqueda paso a paso, los términos más buscados, los porcentajes por nivel y las últimas 5 publicaciones del blog.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inecesarios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repetitvos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611880" cy="502920"/>
          </a:xfrm>
          <a:prstGeom prst="rect">
            <a:avLst/>
          </a:prstGeom>
          <a:solidFill>
            <a:srgbClr val="1E7A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con una introducción sobre las búsquedas, la pestaña “Variables del CICM” y la información de fuentes.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046720" y="2331720"/>
            <a:ext cx="3611880" cy="50292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46720" y="2331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claro del propósito del portal, sin menú adicional en esta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introductoria</a:t>
            </a:r>
            <a:endParaRPr lang="en-US" sz="1250" dirty="0">
              <a:solidFill>
                <a:srgbClr val="3B3D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3B3D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dirija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2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busquedas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3B3D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fusion y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2560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Fusión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con “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acerca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de” a la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pagina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inicio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(CICM)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es, objetivo, misión y visión?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intercambian los cuadros de texto por un menú de pestañas, facilitando el acceso a cada apartado.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50876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Antecedentes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propone una línea del tiempo; se evalúa eliminar esta sección por su bajo aporte y posible confusión con “Origen” . Se reduce el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agregan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relacionadas</a:t>
            </a: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SESNA.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1508760" y="4023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Boton</a:t>
            </a: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50" b="1" dirty="0" err="1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50" b="1" dirty="0" err="1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redirige</a:t>
            </a: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la </a:t>
            </a:r>
            <a:r>
              <a:rPr lang="en-US" sz="1350" b="1" dirty="0" err="1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</a:t>
            </a: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350" b="1" dirty="0" err="1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busqueda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46320" y="402336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Se </a:t>
            </a:r>
            <a:r>
              <a:rPr lang="en-US" sz="1200" dirty="0" err="1"/>
              <a:t>agrega</a:t>
            </a:r>
            <a:r>
              <a:rPr lang="en-US" sz="1200" dirty="0"/>
              <a:t> lo principal , el </a:t>
            </a:r>
            <a:r>
              <a:rPr lang="en-US" sz="1200" dirty="0" err="1"/>
              <a:t>botonm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redirige</a:t>
            </a:r>
            <a:r>
              <a:rPr lang="en-US" sz="1200" dirty="0"/>
              <a:t> a la </a:t>
            </a:r>
            <a:r>
              <a:rPr lang="en-US" sz="1200" dirty="0" err="1"/>
              <a:t>pagina</a:t>
            </a:r>
            <a:r>
              <a:rPr lang="en-US" sz="1200" dirty="0"/>
              <a:t> de </a:t>
            </a:r>
            <a:r>
              <a:rPr lang="en-US" sz="1200" dirty="0" err="1"/>
              <a:t>busqueda</a:t>
            </a:r>
            <a:r>
              <a:rPr lang="en-US" sz="1200" dirty="0"/>
              <a:t>.</a:t>
            </a:r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77240" y="5394960"/>
            <a:ext cx="502920" cy="502920"/>
          </a:xfrm>
          <a:prstGeom prst="ellipse">
            <a:avLst/>
          </a:prstGeom>
          <a:solidFill>
            <a:srgbClr val="9DAFC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7724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150876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Ejes de la PNA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46320" y="5212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sustituyen los cuadros de texto por un menú visual (grid) con los 4 ejes estratégicos.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se puede considerar fusionar “Qué es” y “Antecedentes/Origen”, pues ambas buscan explicar el catálogo.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23"/>
            <a:ext cx="12188952" cy="123444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2560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(antes “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”) (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502920"/>
          </a:xfrm>
          <a:prstGeom prst="rect">
            <a:avLst/>
          </a:prstGeom>
          <a:solidFill>
            <a:srgbClr val="3B3D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INTERACTIVA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proceso de la LGSNA (con nombres claros, sin símbolos ambiguos)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004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Eje y Tema en un solo paso combinado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variables con “+” hacia tu Lista de Selección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3035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tu descarga: periodo y formato de archivo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BECE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394960" cy="502920"/>
          </a:xfrm>
          <a:prstGeom prst="rect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GEOGRÁFICA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21488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proceso LGSNA, eje PNA y tema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0175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variables con “+” en la tabla de resultados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3886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mapa: periodo y entidades federativas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7548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el visualizador y elige variable y año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5669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56235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colores, título y comparte el mapa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DE99686-A6DC-DEFE-7A3B-A8D4945B2E86}"/>
              </a:ext>
            </a:extLst>
          </p:cNvPr>
          <p:cNvSpPr/>
          <p:nvPr/>
        </p:nvSpPr>
        <p:spPr>
          <a:xfrm>
            <a:off x="723078" y="1607980"/>
            <a:ext cx="11507848" cy="241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</a:rPr>
              <a:t>EN DESARROLLO</a:t>
            </a:r>
            <a:endParaRPr lang="en-US" sz="13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Blog, Preguntas frecuentes y Contacto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(Publicaciones)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</a:t>
            </a: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la división por tema; se muestran únicamente las preguntas, con las respuestas ocultas por defecto.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321040" y="1645920"/>
            <a:ext cx="594360" cy="594360"/>
          </a:xfrm>
          <a:prstGeom prst="ellipse">
            <a:avLst/>
          </a:prstGeom>
          <a:solidFill>
            <a:srgbClr val="9E123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3210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renombra la pestaña a “Contacto”; los cambios se enfocan en el formato visual de la página.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E1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B31A4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77240" y="1719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1600200" y="157276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los archivos por sección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23560" y="1572768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el desarrollo individual de HTML, CSS y JS para cada pestaña del sitio.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B31A4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7724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1600200" y="280720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la paleta de colores y tipografía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23560" y="2807208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de forma consistente el estilo visual definitivo en todas las secciones.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B31A4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777240" y="41879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1600200" y="404164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Pulir el CSS visual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23560" y="4041648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espaciados, jerarquía, iconografía y responsividad de cada pantalla.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B31A4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77240" y="5422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9E1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1600200" y="52760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navegación y contenidos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23560" y="5276088"/>
            <a:ext cx="5806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enlaces, menús y textos finales antes de la publicación.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cicm.sesna.gob.mx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1214</Words>
  <Application>Microsoft Office PowerPoint</Application>
  <PresentationFormat>Panorámica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DIANA CARLA HERNANDEZ MATEOS</cp:lastModifiedBy>
  <cp:revision>2</cp:revision>
  <dcterms:created xsi:type="dcterms:W3CDTF">2026-07-14T23:10:50Z</dcterms:created>
  <dcterms:modified xsi:type="dcterms:W3CDTF">2026-07-15T00:38:18Z</dcterms:modified>
</cp:coreProperties>
</file>